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14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850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기능 4의 정확한 표현: 팀별 실력 합 편차를 허용폭 안으로 지키는 것이 제약이고, 그 안에서 팀별 실력 분포 편차를 최소화하는 것이 목표다. 두 축을 종합 점수로 합치지 않는 비대칭 구조다. 꼬리질문이 들어오면 이 용어로 답한다. 시작 배정은 교대 방향과 내림차순 그리디 두 개이고, 두 명 맞교환 전수 평가로 개선한 뒤 채택한다. 정렬과 동률 규칙을 고정해 같은 입력이면 같은 편성이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 자료라 슬라이드에는 쉬운 말만 뒀다. 꼬리질문이 들어오면 아래 용어로 답한다. [인증과 인가] 챌린지 목록·상세 GET 두 경로만 permitAll이고 /api/** 나머지는 authenticated이다. 로그인 성공 시 JWT를 HttpOnly 쿠키로 발급하고 모든 필터체인이 SessionCreationPolicy.STATELESS다. 참가자·팀원 관계 같은 동적 인가는 도메인 서비스가 E-SUB-NOT-PARTICIPANT, E-CFM-NOT-TEAMMATE, E-RNK-NOT-PARTICIPANT로 판정한다. [참가 신청] 응답은 201 완료와 202 기준 측정 요청으로 나뉜다. 최근 30일 확인 완료 제출의 볼륨 평균이 편성 실력이고, 기록이 없으면 PENDING_APPLICATION에 신청 값을 보관했다가 기준 측정 1회 볼륨으로 확정한다. 예치금 차감은 신청이 완료되는 시점이고 202 대기 중에는 차감하지 않는다. [제출] multipart로 meta(JSON)와 photo(파일)를 함께 받는다. 기계 검증 다섯 단계는 제출 완전 마감, 사진 SHA-256 해시 중복, EXIF DateTimeOriginal 정합성(±24시간, EXIF가 없으면 통과), 소급 24시간 유예와 수행 기간 대조, 하루 상한과 인증 주기다. 인증샷은 app.photo-dir 아래 챌린지별로 저장하고 SUBMISSION.photo_path에는 경로만 보관한다. [확인] 정족수 1이라 첫 확인이 상태를 확인 완료로 넘긴다. CONFIRMATION.submission_id 유니크 제약이 이중 확인을 저장 단계에서 막는다. 명세 8.3은 확인마다 누적에 더하는 방식이지만, 기준 구현은 확인 완료 제출을 데이터베이스에서 집계해 계산한다. 자료구조와 캐시는 계측 후 재결정 대상이다(명세 8.3.3·10.3). [순위] 팀 볼륨 내림차순, 동점이면 마지막 반영 확인 시각이 빠른 팀이 위, 그래도 같으면 팀 ID 순이다. 이탈(WITHDRAWN) 참가자는 집계에서 제외한다. 순위 조회는 그 챌린지의 진행 중 참가자만 가능하고, rankings.html의 POLL_MS가 5000이라 화면이 5초마다 다시 부른다. [정산] 네 단계는 개인 판정, 상금풀 확정(기본 상금풀 + 차감분 총합), 팀 순위 분배(등차 가중·내림·나머지 환수), 팀 내 기여도 분배다. 전체가 하나의 트랜잭션이고, 팀 분배 합계와 상금풀이 어긋나면 예외로 전체 롤백한다. 정산을 부르는 API는 없다. 스케줄러만 호출한다. [예치] DEPOSIT_LEDGER에 추가만 하고 DEPOSIT_BALANCE는 조회용이다. 원장 amount 합계가 현재 잔액과 같아야 한다는 것이 회계 규칙이고, join:part_n, refund:part_n, void:part_n 같은 멱등 키로 같은 이동을 두 번 막는다. 상금은 예치 잔액에 넣지 않고 분배 기록으로만 남긴다. [스케줄] ChallengeLifecycleScheduler가 @Scheduled(fixedDelay=60000)으로 돈다. 모집 종료 시각이 지난 모집 상태 챌린지가 목표 인원 미달이면 무산으로 전이하고 예치금을 전액 반환한다. 확인 윈도우 종료 시각이 지나면 미확인 제출을 만료로 전이한 뒤 정산을 실행한다. 정산 단일 실행은 SETTLEMENT 존재 확인과 challenge_id 유니크 제약의 이중 방어이고, 챌린지 한 건의 실패가 다른 건을 막지 않도록 건별로 예외를 잡는다. 배치 프레임워크는 쓰지 않는다. build.gradle에 Spring Batch 의존성이 없고 JobBuilder도 ItemReader도 Tasklet도 없다. 슬라이드에서 이 행을 통째로 뺀 이유가 그것이다. [편성] 정원 판정과 편성은 ParticipationService의 synchronized(formationLock)로 묶여 있고 서버 1대 전제다. 시작 배정은 교대 방향과 내림차순 그리디 두 개이고, 두 명 맞교환 전수 평가로 개선한 뒤 채택한다. 팀별 실력 합 편차를 허용폭(팀 합 평균의 10%) 안으로 지키는 것이 제약이고, 그 안에서 분포 편차 최소화가 목표다. 정렬과 동률 규칙을 고정해 같은 입력이면 같은 편성이 나온다. [저장소] 챌린지 도메인 표는 11개다. CHALLENGE, TEAM, PARTICIPATION, SUBMISSION, CONFIRMATION, DEPOSIT_BALANCE, DEPOSIT_LEDGER, SETTLEMENT, TEAM_PRIZE, MEMBER_PRIZE, PENDING_APPLICATION. 식별자는 데이터베이스 시퀀스에 접두어를 붙인 문자열(chal_1, part_3)이다. 데이터베이스는 Oracle 하나이고 인증샷 파일만 로컬 디스크에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umjinDev/wherehouse_SpringBoo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950720"/>
            <a:ext cx="8534400" cy="0"/>
          </a:xfrm>
          <a:prstGeom prst="line">
            <a:avLst/>
          </a:prstGeom>
          <a:noFill/>
          <a:ln w="25400">
            <a:solidFill>
              <a:srgbClr val="1E56A0"/>
            </a:solidFill>
            <a:prstDash val="solid"/>
          </a:ln>
        </p:spPr>
        <p:txBody>
          <a:bodyPr/>
          <a:lstStyle/>
          <a:p>
            <a:endParaRPr sz="4800"/>
          </a:p>
        </p:txBody>
      </p:sp>
      <p:sp>
        <p:nvSpPr>
          <p:cNvPr id="3" name="Text 1"/>
          <p:cNvSpPr/>
          <p:nvPr/>
        </p:nvSpPr>
        <p:spPr>
          <a:xfrm>
            <a:off x="1219200" y="2194560"/>
            <a:ext cx="9753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00" b="1" dirty="0" err="1">
                <a:solidFill>
                  <a:srgbClr val="1B2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ExerciseManagement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828800" y="3535680"/>
            <a:ext cx="8534400" cy="0"/>
          </a:xfrm>
          <a:prstGeom prst="line">
            <a:avLst/>
          </a:prstGeom>
          <a:noFill/>
          <a:ln w="25400">
            <a:solidFill>
              <a:srgbClr val="1E56A0"/>
            </a:solidFill>
            <a:prstDash val="solid"/>
          </a:ln>
        </p:spPr>
        <p:txBody>
          <a:bodyPr/>
          <a:lstStyle/>
          <a:p>
            <a:endParaRPr sz="4800"/>
          </a:p>
        </p:txBody>
      </p:sp>
      <p:sp>
        <p:nvSpPr>
          <p:cNvPr id="5" name="Text 3"/>
          <p:cNvSpPr/>
          <p:nvPr/>
        </p:nvSpPr>
        <p:spPr>
          <a:xfrm>
            <a:off x="1828800" y="3901440"/>
            <a:ext cx="85344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67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기획부터</a:t>
            </a:r>
            <a:r>
              <a:rPr lang="en-US" sz="18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ko-KR" altLang="en-US" sz="18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</a:t>
            </a:r>
            <a:r>
              <a:rPr lang="en-US" sz="1867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까지</a:t>
            </a:r>
            <a:r>
              <a:rPr lang="en-US" sz="1867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백엔드 1인 개발</a:t>
            </a:r>
            <a:endParaRPr lang="en-US" sz="1867" dirty="0"/>
          </a:p>
        </p:txBody>
      </p:sp>
      <p:sp>
        <p:nvSpPr>
          <p:cNvPr id="6" name="Text 4">
            <a:hlinkClick r:id="rId3"/>
          </p:cNvPr>
          <p:cNvSpPr/>
          <p:nvPr/>
        </p:nvSpPr>
        <p:spPr>
          <a:xfrm>
            <a:off x="1828800" y="5852160"/>
            <a:ext cx="853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u="sng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https://</a:t>
            </a:r>
            <a:r>
              <a:rPr lang="en-US" sz="1333" u="sng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github.com</a:t>
            </a:r>
            <a:r>
              <a:rPr lang="en-US" sz="1333" u="sng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1333" u="sng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bumjinDev</a:t>
            </a:r>
            <a:r>
              <a:rPr lang="en-US" sz="1333" u="sng" dirty="0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en-US" sz="1333" u="sng" dirty="0" err="1">
                <a:solidFill>
                  <a:srgbClr val="6B72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ExerciseManagement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서비스 기획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2331720" cy="50292"/>
          </a:xfrm>
          <a:prstGeom prst="rect">
            <a:avLst/>
          </a:prstGeom>
          <a:solidFill>
            <a:srgbClr val="2F3C50"/>
          </a:solidFill>
          <a:ln w="12700">
            <a:solidFill>
              <a:srgbClr val="2F3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96112"/>
            <a:ext cx="6263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팀을 짜서 운동량으로 겨루고, 개인 목표 달성과 팀 등수 두 가지로 보상이 나뉘는 챌린지 서비스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6263640" cy="896112"/>
          </a:xfrm>
          <a:prstGeom prst="rect">
            <a:avLst/>
          </a:prstGeom>
          <a:solidFill>
            <a:srgbClr val="F7F8FA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5216" y="12527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문제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85216" y="1481328"/>
            <a:ext cx="60076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직장인은 헬스클럽에 등록해도 금방 포기한다. 포기하는 이유로 동기부여와 의지 상실이 많이 꼽힌다.</a:t>
            </a:r>
            <a:endParaRPr lang="en-US" sz="800" dirty="0"/>
          </a:p>
          <a:p>
            <a:pPr marL="0" indent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챌린저스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스스로 정한 목표를 혼자 채우면 예치금을 돌려받고, </a:t>
            </a: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캐시워크 팀워크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는 팀 등수를 매기지만 걸음 수 하나에 묶여 있다. </a:t>
            </a:r>
            <a:r>
              <a:rPr lang="en-US" sz="800" b="1" dirty="0">
                <a:solidFill>
                  <a:srgbClr val="9A5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운동하는 동안 팀에 소속되어 겨루는 구조가 없고, 각자 정해 둔 목표를 수동적으로 채우는 데서 끝난다.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57200" y="2336292"/>
            <a:ext cx="45720" cy="150876"/>
          </a:xfrm>
          <a:prstGeom prst="rect">
            <a:avLst/>
          </a:prstGeom>
          <a:solidFill>
            <a:srgbClr val="2F3C50"/>
          </a:solidFill>
          <a:ln w="12700">
            <a:solidFill>
              <a:srgbClr val="2F3C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" y="2304288"/>
            <a:ext cx="614476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대항 등수형 챌린지에 필요한 것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6263640" cy="1658112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요구사항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기획 방향</a:t>
                      </a:r>
                      <a:endParaRPr lang="en-US" sz="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F3C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인원이 모여야 시작되는 구조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모집 기간과 목표 인원을 미리 정해 두고, 인원이 차면 시작 미달이면 무산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F3C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개인 달성에 대한 보상 보장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팀 등수와 무관하게 개인 목표 달성 시 예치금 환급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F3C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운동 기간 내내 유지되는 팀 소속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확인된 인증의 볼륨을 팀 누적에 합산해 등수 산출, 상위 팀에 상금 분배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750" b="1" dirty="0">
                          <a:solidFill>
                            <a:srgbClr val="2F3C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시작 전에 등수가 정해지지 않는 편성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750" dirty="0">
                          <a:solidFill>
                            <a:srgbClr val="2B2B2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실력을 고르게 섞어 시스템이 배정, 팀 사이 실력 차이는 정해진 범위 안으로 유지</a:t>
                      </a:r>
                      <a:endParaRPr lang="en-US" sz="7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475488" y="4261104"/>
            <a:ext cx="6227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 사용자   </a:t>
            </a:r>
            <a:r>
              <a:rPr lang="en-US" sz="7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웨이트를 하다 결과가 나타나기 전에 중단한 20~30대 직장인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475488" y="4443984"/>
            <a:ext cx="6227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  </a:t>
            </a:r>
            <a:r>
              <a:rPr lang="en-US" sz="75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결과가 보이기 전에 그만두던 지점을 팀 등수 경쟁으로 넘기고, 목표를 채운 사람은 팀이 져도 예치금을 잃지 않는다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57200" y="4860036"/>
            <a:ext cx="45720" cy="150876"/>
          </a:xfrm>
          <a:prstGeom prst="rect">
            <a:avLst/>
          </a:prstGeom>
          <a:solidFill>
            <a:srgbClr val="2F3C50"/>
          </a:solidFill>
          <a:ln w="12700">
            <a:solidFill>
              <a:srgbClr val="2F3C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6072" y="4828032"/>
            <a:ext cx="6144768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요구사항 기능 명세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5488" y="5084064"/>
            <a:ext cx="62270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6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1. </a:t>
            </a: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챌린지 성립</a:t>
            </a:r>
            <a:r>
              <a:rPr lang="en-US" sz="8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종목·팀 정원·팀 수·상금 팀 수·기간·인증 빈도를 등록하고, 목표 인원이 차면 시작, 모집 기간까지 미달이면 무산과 예치금 전액 반환</a:t>
            </a:r>
            <a:endParaRPr lang="en-US" sz="800" dirty="0"/>
          </a:p>
          <a:p>
            <a:pPr marL="0" indent="0">
              <a:lnSpc>
                <a:spcPct val="126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2. </a:t>
            </a: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개인 인증과 보상</a:t>
            </a:r>
            <a:r>
              <a:rPr lang="en-US" sz="8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무게·횟수·인증샷을 제출하고 팀원 확인을 거쳐 목표 달성을 판정, 달성이면 예치금 환급 미달이면 차감</a:t>
            </a:r>
            <a:endParaRPr lang="en-US" sz="800" dirty="0"/>
          </a:p>
          <a:p>
            <a:pPr marL="0" indent="0">
              <a:lnSpc>
                <a:spcPct val="126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3. </a:t>
            </a: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인증과 보상</a:t>
            </a:r>
            <a:r>
              <a:rPr lang="en-US" sz="8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제출의 볼륨을 팀 누적에 합산해 팀 순위를 매기고, 상금풀을 순위 차등으로 나눈 뒤 팀 안에서 기여도 비율로 분배</a:t>
            </a:r>
            <a:endParaRPr lang="en-US" sz="800" dirty="0"/>
          </a:p>
          <a:p>
            <a:pPr marL="0" indent="0">
              <a:lnSpc>
                <a:spcPct val="126000"/>
              </a:lnSpc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4. </a:t>
            </a: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편성 균형</a:t>
            </a:r>
            <a:r>
              <a:rPr lang="en-US" sz="8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en-US" sz="8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사이 실력 차이를 정해진 범위 안으로 맞춘 뒤, 그 안에서 팀 안의 실력 쏠림 최소화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848856" y="987552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챌린지 목록</a:t>
            </a:r>
            <a:r>
              <a:rPr lang="en-US" sz="7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모집·시작·종료·무산 네 상태를 한 화면에서 조회</a:t>
            </a:r>
            <a:endParaRPr lang="en-US" sz="750" dirty="0"/>
          </a:p>
        </p:txBody>
      </p:sp>
      <p:pic>
        <p:nvPicPr>
          <p:cNvPr id="17" name="Image 0" descr="shot_l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856" y="1170432"/>
            <a:ext cx="4882896" cy="2843784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848856" y="1170432"/>
            <a:ext cx="4882896" cy="2843784"/>
          </a:xfrm>
          <a:prstGeom prst="rect">
            <a:avLst/>
          </a:prstGeom>
          <a:ln w="9525">
            <a:solidFill>
              <a:srgbClr val="C7CBD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848856" y="4123944"/>
            <a:ext cx="4882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순위·현황</a:t>
            </a:r>
            <a:r>
              <a:rPr lang="en-US" sz="7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상금 경계 안쪽 팀만 색으로 구분되는 실시간 순위표</a:t>
            </a:r>
            <a:endParaRPr lang="en-US" sz="750" dirty="0"/>
          </a:p>
        </p:txBody>
      </p:sp>
      <p:pic>
        <p:nvPicPr>
          <p:cNvPr id="20" name="Image 1" descr="shot_ra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4306824"/>
            <a:ext cx="4882896" cy="2112264"/>
          </a:xfrm>
          <a:prstGeom prst="rect">
            <a:avLst/>
          </a:prstGeom>
        </p:spPr>
      </p:pic>
      <p:sp>
        <p:nvSpPr>
          <p:cNvPr id="21" name="Shape 16"/>
          <p:cNvSpPr/>
          <p:nvPr/>
        </p:nvSpPr>
        <p:spPr>
          <a:xfrm>
            <a:off x="6848856" y="4306824"/>
            <a:ext cx="4882896" cy="2112264"/>
          </a:xfrm>
          <a:prstGeom prst="rect">
            <a:avLst/>
          </a:prstGeom>
          <a:ln w="9525">
            <a:solidFill>
              <a:srgbClr val="C7CBD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대항 등수형 챌린지 아키텍처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94944"/>
            <a:ext cx="2331720" cy="50292"/>
          </a:xfrm>
          <a:prstGeom prst="rect">
            <a:avLst/>
          </a:prstGeom>
          <a:solidFill>
            <a:srgbClr val="2F3C50"/>
          </a:solidFill>
          <a:ln w="12700">
            <a:solidFill>
              <a:srgbClr val="2F3C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86384"/>
            <a:ext cx="11274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다 모이면 팀이 짜이고, 인증이 확인되면 팀 누적이 오르고, 기간이 끝나면 예치금이 돌아오거나 상금으로 나뉜다.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078992"/>
            <a:ext cx="11274552" cy="10973"/>
          </a:xfrm>
          <a:prstGeom prst="rect">
            <a:avLst/>
          </a:prstGeom>
          <a:solidFill>
            <a:srgbClr val="D9DCE0"/>
          </a:solidFill>
          <a:ln w="12700">
            <a:solidFill>
              <a:srgbClr val="D9DC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16736"/>
            <a:ext cx="932688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계층 / 기능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499616" y="1316736"/>
            <a:ext cx="2489454" cy="548640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9344" y="1316736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챌린지 성립과 팀 편성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· 참가 신청 · 기준 측정 · 실력 균형 편성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080510" y="1316736"/>
            <a:ext cx="2489454" cy="548640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90238" y="1316736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인증 제출과 팀원 확인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검증 · 사람 판정 · 개인과 팀 누적 반영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6661404" y="1316736"/>
            <a:ext cx="2489454" cy="548640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1132" y="1316736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순위와 정산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볼륨 집계 · 개인 목표 판정 · 상금 분배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242298" y="1316736"/>
            <a:ext cx="2489454" cy="548640"/>
          </a:xfrm>
          <a:prstGeom prst="roundRect">
            <a:avLst>
              <a:gd name="adj" fmla="val 5000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52026" y="1316736"/>
            <a:ext cx="22699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예치금 관리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 · 참가 차감 · 환급과 반환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" y="2139696"/>
            <a:ext cx="932688" cy="658368"/>
          </a:xfrm>
          <a:prstGeom prst="roundRect">
            <a:avLst>
              <a:gd name="adj" fmla="val 4167"/>
            </a:avLst>
          </a:prstGeom>
          <a:solidFill>
            <a:srgbClr val="EDEFF2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139696"/>
            <a:ext cx="93268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68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· 검증 · 인가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499616" y="2139696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9344" y="2139696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챌린지 · 참가 API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조회는 누구나, 등록과 신청은 로그인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080510" y="2139696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90238" y="2139696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· 확인 API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제출은 인증샷과 함께, 확인은 팀원만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61404" y="2139696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71132" y="2139696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조회 API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참가자만 조회, 화면은 5초마다 갱신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242298" y="2139696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52026" y="2139696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예치 API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충전과 예치 현황 조회, 외부 결제 없음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" y="3072384"/>
            <a:ext cx="932688" cy="2048256"/>
          </a:xfrm>
          <a:prstGeom prst="roundRect">
            <a:avLst>
              <a:gd name="adj" fmla="val 2941"/>
            </a:avLst>
          </a:prstGeom>
          <a:solidFill>
            <a:srgbClr val="EDEFF2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072384"/>
            <a:ext cx="932688" cy="2048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비즈니스 계층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68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로직 · 의사결정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499616" y="3072384"/>
            <a:ext cx="2489454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09344" y="3072384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챌린지 · 참가 도메인 로직</a:t>
            </a:r>
            <a:endParaRPr lang="en-US" sz="8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69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성립 조건 검사 · 신청과 기준 측정 · 정원이 찰 때 한 번만 편성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517904" y="3657600"/>
            <a:ext cx="2489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 (입력 → 기능 → 출력)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499616" y="3877056"/>
            <a:ext cx="248945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609344" y="3950208"/>
            <a:ext cx="2269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9A5B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편성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609344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660" dirty="0"/>
          </a:p>
        </p:txBody>
      </p:sp>
      <p:sp>
        <p:nvSpPr>
          <p:cNvPr id="33" name="Shape 31"/>
          <p:cNvSpPr/>
          <p:nvPr/>
        </p:nvSpPr>
        <p:spPr>
          <a:xfrm>
            <a:off x="1609344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09344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참가자 전원의 실력</a:t>
            </a:r>
            <a:endParaRPr lang="en-US" sz="710" dirty="0"/>
          </a:p>
        </p:txBody>
      </p:sp>
      <p:sp>
        <p:nvSpPr>
          <p:cNvPr id="35" name="Text 33"/>
          <p:cNvSpPr/>
          <p:nvPr/>
        </p:nvSpPr>
        <p:spPr>
          <a:xfrm>
            <a:off x="2256282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2420874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660" dirty="0"/>
          </a:p>
        </p:txBody>
      </p:sp>
      <p:sp>
        <p:nvSpPr>
          <p:cNvPr id="37" name="Shape 35"/>
          <p:cNvSpPr/>
          <p:nvPr/>
        </p:nvSpPr>
        <p:spPr>
          <a:xfrm>
            <a:off x="2420874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20874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안을 맞교환으로 개선</a:t>
            </a:r>
            <a:endParaRPr lang="en-US" sz="710" dirty="0"/>
          </a:p>
        </p:txBody>
      </p:sp>
      <p:sp>
        <p:nvSpPr>
          <p:cNvPr id="39" name="Text 37"/>
          <p:cNvSpPr/>
          <p:nvPr/>
        </p:nvSpPr>
        <p:spPr>
          <a:xfrm>
            <a:off x="3067812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232404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660" dirty="0"/>
          </a:p>
        </p:txBody>
      </p:sp>
      <p:sp>
        <p:nvSpPr>
          <p:cNvPr id="41" name="Shape 39"/>
          <p:cNvSpPr/>
          <p:nvPr/>
        </p:nvSpPr>
        <p:spPr>
          <a:xfrm>
            <a:off x="3232404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32404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실력이 고른 팀들</a:t>
            </a:r>
            <a:endParaRPr lang="en-US" sz="710" dirty="0"/>
          </a:p>
        </p:txBody>
      </p:sp>
      <p:sp>
        <p:nvSpPr>
          <p:cNvPr id="43" name="Shape 41"/>
          <p:cNvSpPr/>
          <p:nvPr/>
        </p:nvSpPr>
        <p:spPr>
          <a:xfrm>
            <a:off x="4080510" y="3072384"/>
            <a:ext cx="2489454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90238" y="3072384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· 확인 도메인 로직</a:t>
            </a:r>
            <a:endParaRPr lang="en-US" sz="8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69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기계가 먼저 거르고 팀원 한 명이 확인하면 확정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098798" y="3657600"/>
            <a:ext cx="2489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 (입력 → 기능 → 출력)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080510" y="3877056"/>
            <a:ext cx="248945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90238" y="3950208"/>
            <a:ext cx="2269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확인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190238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660" dirty="0"/>
          </a:p>
        </p:txBody>
      </p:sp>
      <p:sp>
        <p:nvSpPr>
          <p:cNvPr id="49" name="Shape 47"/>
          <p:cNvSpPr/>
          <p:nvPr/>
        </p:nvSpPr>
        <p:spPr>
          <a:xfrm>
            <a:off x="4190238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90238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대기 제출</a:t>
            </a:r>
            <a:endParaRPr lang="en-US" sz="710" dirty="0"/>
          </a:p>
        </p:txBody>
      </p:sp>
      <p:sp>
        <p:nvSpPr>
          <p:cNvPr id="51" name="Text 49"/>
          <p:cNvSpPr/>
          <p:nvPr/>
        </p:nvSpPr>
        <p:spPr>
          <a:xfrm>
            <a:off x="4837176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5001768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660" dirty="0"/>
          </a:p>
        </p:txBody>
      </p:sp>
      <p:sp>
        <p:nvSpPr>
          <p:cNvPr id="53" name="Shape 51"/>
          <p:cNvSpPr/>
          <p:nvPr/>
        </p:nvSpPr>
        <p:spPr>
          <a:xfrm>
            <a:off x="5001768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01768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 또는 반려 판정</a:t>
            </a:r>
            <a:endParaRPr lang="en-US" sz="710" dirty="0"/>
          </a:p>
        </p:txBody>
      </p:sp>
      <p:sp>
        <p:nvSpPr>
          <p:cNvPr id="55" name="Text 53"/>
          <p:cNvSpPr/>
          <p:nvPr/>
        </p:nvSpPr>
        <p:spPr>
          <a:xfrm>
            <a:off x="5648706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5813298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660" dirty="0"/>
          </a:p>
        </p:txBody>
      </p:sp>
      <p:sp>
        <p:nvSpPr>
          <p:cNvPr id="57" name="Shape 55"/>
          <p:cNvSpPr/>
          <p:nvPr/>
        </p:nvSpPr>
        <p:spPr>
          <a:xfrm>
            <a:off x="5813298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13298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확인된 기록만 누적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6661404" y="3072384"/>
            <a:ext cx="2489454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771132" y="3072384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순위 · 정산 도메인 로직</a:t>
            </a:r>
            <a:endParaRPr lang="en-US" sz="8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69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목표 판정 규칙 하나로 공용 · 네 단계와 합계 대조를 한 번에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6679692" y="3657600"/>
            <a:ext cx="2489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 (입력 → 기능 → 출력)</a:t>
            </a:r>
            <a:endParaRPr lang="en-US" sz="700" dirty="0"/>
          </a:p>
        </p:txBody>
      </p:sp>
      <p:sp>
        <p:nvSpPr>
          <p:cNvPr id="62" name="Shape 60"/>
          <p:cNvSpPr/>
          <p:nvPr/>
        </p:nvSpPr>
        <p:spPr>
          <a:xfrm>
            <a:off x="6661404" y="3877056"/>
            <a:ext cx="248945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771132" y="3950208"/>
            <a:ext cx="2269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네 단계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6771132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660" dirty="0"/>
          </a:p>
        </p:txBody>
      </p:sp>
      <p:sp>
        <p:nvSpPr>
          <p:cNvPr id="65" name="Shape 63"/>
          <p:cNvSpPr/>
          <p:nvPr/>
        </p:nvSpPr>
        <p:spPr>
          <a:xfrm>
            <a:off x="6771132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771132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누적 볼륨과 개인 목표</a:t>
            </a:r>
            <a:endParaRPr lang="en-US" sz="710" dirty="0"/>
          </a:p>
        </p:txBody>
      </p:sp>
      <p:sp>
        <p:nvSpPr>
          <p:cNvPr id="67" name="Text 65"/>
          <p:cNvSpPr/>
          <p:nvPr/>
        </p:nvSpPr>
        <p:spPr>
          <a:xfrm>
            <a:off x="7418070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7582662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660" dirty="0"/>
          </a:p>
        </p:txBody>
      </p:sp>
      <p:sp>
        <p:nvSpPr>
          <p:cNvPr id="69" name="Shape 67"/>
          <p:cNvSpPr/>
          <p:nvPr/>
        </p:nvSpPr>
        <p:spPr>
          <a:xfrm>
            <a:off x="7582662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82662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달성 판정 · 상금풀 · 분배</a:t>
            </a:r>
            <a:endParaRPr lang="en-US" sz="710" dirty="0"/>
          </a:p>
        </p:txBody>
      </p:sp>
      <p:sp>
        <p:nvSpPr>
          <p:cNvPr id="71" name="Text 69"/>
          <p:cNvSpPr/>
          <p:nvPr/>
        </p:nvSpPr>
        <p:spPr>
          <a:xfrm>
            <a:off x="8229600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8394192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660" dirty="0"/>
          </a:p>
        </p:txBody>
      </p:sp>
      <p:sp>
        <p:nvSpPr>
          <p:cNvPr id="73" name="Shape 71"/>
          <p:cNvSpPr/>
          <p:nvPr/>
        </p:nvSpPr>
        <p:spPr>
          <a:xfrm>
            <a:off x="8394192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394192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환급 · 차감 · 상금 확정</a:t>
            </a:r>
            <a:endParaRPr lang="en-US" sz="710" dirty="0"/>
          </a:p>
        </p:txBody>
      </p:sp>
      <p:sp>
        <p:nvSpPr>
          <p:cNvPr id="75" name="Shape 73"/>
          <p:cNvSpPr/>
          <p:nvPr/>
        </p:nvSpPr>
        <p:spPr>
          <a:xfrm>
            <a:off x="9242298" y="3072384"/>
            <a:ext cx="2489454" cy="530352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52026" y="3072384"/>
            <a:ext cx="226999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0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예치 도메인 로직</a:t>
            </a:r>
            <a:endParaRPr lang="en-US" sz="80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69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돈의 이동을 지우지 않고 쌓아 기록 · 같은 처리 두 번 방지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9260586" y="3657600"/>
            <a:ext cx="248945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주요 기능  (입력 → 기능 → 출력)</a:t>
            </a:r>
            <a:endParaRPr lang="en-US" sz="700" dirty="0"/>
          </a:p>
        </p:txBody>
      </p:sp>
      <p:sp>
        <p:nvSpPr>
          <p:cNvPr id="78" name="Shape 76"/>
          <p:cNvSpPr/>
          <p:nvPr/>
        </p:nvSpPr>
        <p:spPr>
          <a:xfrm>
            <a:off x="9242298" y="3877056"/>
            <a:ext cx="2489454" cy="1243584"/>
          </a:xfrm>
          <a:prstGeom prst="roundRect">
            <a:avLst>
              <a:gd name="adj" fmla="val 2206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352026" y="3950208"/>
            <a:ext cx="22699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예치금 이동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9352026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</a:t>
            </a:r>
            <a:endParaRPr lang="en-US" sz="660" dirty="0"/>
          </a:p>
        </p:txBody>
      </p:sp>
      <p:sp>
        <p:nvSpPr>
          <p:cNvPr id="81" name="Shape 79"/>
          <p:cNvSpPr/>
          <p:nvPr/>
        </p:nvSpPr>
        <p:spPr>
          <a:xfrm>
            <a:off x="9352026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52026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충전 · 차감 · 환급</a:t>
            </a:r>
            <a:endParaRPr lang="en-US" sz="710" dirty="0"/>
          </a:p>
        </p:txBody>
      </p:sp>
      <p:sp>
        <p:nvSpPr>
          <p:cNvPr id="83" name="Text 81"/>
          <p:cNvSpPr/>
          <p:nvPr/>
        </p:nvSpPr>
        <p:spPr>
          <a:xfrm>
            <a:off x="9998964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10163556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</a:t>
            </a:r>
            <a:endParaRPr lang="en-US" sz="660" dirty="0"/>
          </a:p>
        </p:txBody>
      </p:sp>
      <p:sp>
        <p:nvSpPr>
          <p:cNvPr id="85" name="Shape 83"/>
          <p:cNvSpPr/>
          <p:nvPr/>
        </p:nvSpPr>
        <p:spPr>
          <a:xfrm>
            <a:off x="10163556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0163556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이동인지 확인</a:t>
            </a:r>
            <a:endParaRPr lang="en-US" sz="710" dirty="0"/>
          </a:p>
        </p:txBody>
      </p:sp>
      <p:sp>
        <p:nvSpPr>
          <p:cNvPr id="87" name="Text 85"/>
          <p:cNvSpPr/>
          <p:nvPr/>
        </p:nvSpPr>
        <p:spPr>
          <a:xfrm>
            <a:off x="10810494" y="4425696"/>
            <a:ext cx="1645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9AA3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10975086" y="4261104"/>
            <a:ext cx="64693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출력</a:t>
            </a:r>
            <a:endParaRPr lang="en-US" sz="660" dirty="0"/>
          </a:p>
        </p:txBody>
      </p:sp>
      <p:sp>
        <p:nvSpPr>
          <p:cNvPr id="89" name="Shape 87"/>
          <p:cNvSpPr/>
          <p:nvPr/>
        </p:nvSpPr>
        <p:spPr>
          <a:xfrm>
            <a:off x="10975086" y="4425696"/>
            <a:ext cx="646938" cy="530352"/>
          </a:xfrm>
          <a:prstGeom prst="roundRect">
            <a:avLst>
              <a:gd name="adj" fmla="val 5172"/>
            </a:avLst>
          </a:prstGeom>
          <a:solidFill>
            <a:srgbClr val="F4F5F6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10975086" y="4425696"/>
            <a:ext cx="64693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71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 추가와 잔액 갱신</a:t>
            </a:r>
            <a:endParaRPr lang="en-US" sz="710" dirty="0"/>
          </a:p>
        </p:txBody>
      </p:sp>
      <p:sp>
        <p:nvSpPr>
          <p:cNvPr id="91" name="Shape 89"/>
          <p:cNvSpPr/>
          <p:nvPr/>
        </p:nvSpPr>
        <p:spPr>
          <a:xfrm>
            <a:off x="457200" y="5394960"/>
            <a:ext cx="932688" cy="658368"/>
          </a:xfrm>
          <a:prstGeom prst="roundRect">
            <a:avLst>
              <a:gd name="adj" fmla="val 4167"/>
            </a:avLst>
          </a:prstGeom>
          <a:solidFill>
            <a:srgbClr val="EDEFF2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57200" y="5394960"/>
            <a:ext cx="932688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 계층</a:t>
            </a:r>
            <a:endParaRPr lang="en-US" sz="8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68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곳에 표 11개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1499616" y="5394960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609344" y="5394960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챌린지 · 참가 · 팀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챌린지와 참가, 편성된 팀, 대기 중 신청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080510" y="5394960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190238" y="5394960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 · 확인 기록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제출과 판정은 표에, 인증샷은 파일로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661404" y="5394960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771132" y="5394960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 결과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정산·팀 상금·개인 상금을 한 번만 기록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9242298" y="5394960"/>
            <a:ext cx="248945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D9DCE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352026" y="5394960"/>
            <a:ext cx="226999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850" b="1" dirty="0">
                <a:solidFill>
                  <a:srgbClr val="2F3C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예치금 기록 · 잔액</a:t>
            </a:r>
            <a:endParaRPr lang="en-US" sz="850" dirty="0"/>
          </a:p>
          <a:p>
            <a:pPr marL="0" indent="0" algn="l">
              <a:lnSpc>
                <a:spcPct val="124000"/>
              </a:lnSpc>
              <a:buNone/>
            </a:pPr>
            <a:r>
              <a:rPr lang="en-US" sz="720" dirty="0">
                <a:solidFill>
                  <a:srgbClr val="2B2B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이동 기록과 현재 잔액을 나눠 보관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457200" y="6382512"/>
            <a:ext cx="11274552" cy="10973"/>
          </a:xfrm>
          <a:prstGeom prst="rect">
            <a:avLst/>
          </a:prstGeom>
          <a:solidFill>
            <a:srgbClr val="D9DCE0"/>
          </a:solidFill>
          <a:ln w="12700">
            <a:solidFill>
              <a:srgbClr val="D9DCE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756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트러블슈팅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9300"/>
            <a:ext cx="11277569" cy="208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팀 편성 개선 알고리즘 병렬화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1101"/>
            <a:ext cx="11277569" cy="3337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실행 시간은 줄었는데 CPU 시간은 오히려 늘어난 이유를 후보를 하나씩 지우며 좁혔다. </a:t>
            </a:r>
            <a:r>
              <a:rPr sz="900" b="1">
                <a:solidFill>
                  <a:srgbClr val="A2603E"/>
                </a:solidFill>
                <a:latin typeface="맑은 고딕"/>
                <a:ea typeface="맑은 고딕"/>
                <a:cs typeface="맑은 고딕"/>
              </a:rPr>
              <a:t>병렬 효율을 정한 것은 코어 개수가 아니라 검사마다 새로 만들어지는 객체였고</a:t>
            </a: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편차 계산을 바꾸자 병렬 이전의 순차부터 빨라졌다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71550"/>
            <a:ext cx="457200" cy="30175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98849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4924" y="1387876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3809" y="1398849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1533" y="1387876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병렬화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98188"/>
            <a:ext cx="3474720" cy="763015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rIns="109728" bIns="68580" rtlCol="0" anchor="t">
            <a:no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개선 알고리즘은 서로 다른 두 팀에서 한 명씩 맞바꿔 보고 배정이 좋아지는지 확인하는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검사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를 되풀이한다. 정원이 차는 순간 곧바로 실행되기 때문에, 수 초가 걸리는 이 계산이 끝날 때까지 참가자가 편성을 기다린다.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3809" y="1598188"/>
            <a:ext cx="7680960" cy="763015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rIns="109728" bIns="68580" rtlCol="0" anchor="t">
            <a:no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검사는 같은 배정을 놓고 후보 하나를 맞바꿔 보고 되돌리는 일이라, 검사끼리는 순서도 없고 서로 기다릴 일도 없다. 그래서 검사 목록을 여러 갈래로 나눠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동시에 실행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했다. 다만 가장 좋은 교환을 골라 적용하고 나면 배정이 바뀌므로, 그 위에서 다시 도는 전수 검사의 되풀이는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순차로 남겼다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429784"/>
            <a:ext cx="11277569" cy="71313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429784"/>
            <a:ext cx="23774" cy="713130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" y="2498364"/>
            <a:ext cx="11094689" cy="132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그런데 개선 알고리즘의 실행 시간은 줄었지만, CPU 시간 합은 오히려 늘었다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" y="2687137"/>
            <a:ext cx="3633002" cy="368909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" y="2732857"/>
            <a:ext cx="3633002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개선 알고리즘 전체 실행 시간 (워커 스레드 12개 · 분할 16개)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" y="2864836"/>
            <a:ext cx="3633002" cy="138176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3,378.91ms → 764.76ms로 줄었다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483" y="2687137"/>
            <a:ext cx="3633002" cy="368909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483" y="2732857"/>
            <a:ext cx="3633002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모든 스레드가 쓴 CPU 시간의 합 (같은 실행)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483" y="2864836"/>
            <a:ext cx="3633002" cy="138176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3,375.00ms → 6,006.25ms, 순차의 1.78배로 늘었다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6610" y="2687137"/>
            <a:ext cx="3633002" cy="368909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96610" y="2732857"/>
            <a:ext cx="3633002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말단 분할을 12개로 늘리면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6610" y="2864836"/>
            <a:ext cx="3633002" cy="138176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CPU 시간 합이 분할 1의 3.23배(14,318.8ms)까지 늘었다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670159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924" y="3659186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원인 추적 · 늘어난 CPU 시간의 후보를 실측으로 하나씩 지웠다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869498"/>
            <a:ext cx="2689090" cy="958761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928934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워커 밖에서 쓴 시간이 늘었는가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04042"/>
            <a:ext cx="2689090" cy="46329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GC, 다른 스레드, 말단마다 팀 배정 복사본을 만드는 시간을 하나씩 쟀지만, 늘어난 CPU 시간의 99.8%는 워커가 쓴 시간이었다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" y="4609400"/>
            <a:ext cx="1915082" cy="159423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프로세스 +9,884ms 중 워커 +9,866ms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6290" y="4266583"/>
            <a:ext cx="173736" cy="16459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20026" y="3869498"/>
            <a:ext cx="2689090" cy="958761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320026" y="3928934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검사 횟수가 늘었는가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20026" y="4104042"/>
            <a:ext cx="2689090" cy="308864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말단을 어떻게 나눠도 개선 작업 한 번의 검사 횟수와 통과 횟수가 완전히 같다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0610" y="4609400"/>
            <a:ext cx="1760978" cy="159423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검사 855,000회 · 통과 352,485회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09116" y="4266583"/>
            <a:ext cx="173736" cy="16459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2852" y="3869498"/>
            <a:ext cx="2689090" cy="958761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182852" y="3928934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CPU 클럭이 내려갔는가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82852" y="4104042"/>
            <a:ext cx="2689090" cy="308864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클럭이 내려가긴 하지만, 늘어난 검사 시간에서 클럭 하락으로 설명되는 몫은 최대 4.6%다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83436" y="4609400"/>
            <a:ext cx="1924748" cy="159423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클럭 4.257 → 4.081GHz (4.1% 하락)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1943" y="4266583"/>
            <a:ext cx="173736" cy="16459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45679" y="3869498"/>
            <a:ext cx="2689090" cy="958761"/>
          </a:xfrm>
          <a:prstGeom prst="rect">
            <a:avLst/>
          </a:prstGeom>
          <a:solidFill>
            <a:srgbClr val="FFFFFF"/>
          </a:solidFill>
          <a:ln w="9525">
            <a:solidFill>
              <a:srgbClr val="345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045679" y="3928934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검사 한 번의 CPU 시간이 커졌다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45679" y="4104042"/>
            <a:ext cx="2689090" cy="46329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검사 시간의 99% 안팎을 쓰는 합 편차·분포 편차 계산이 검사할 때마다 객체를 새로 만들고, 그 양이 개선 작업 한 번에 9.5GB다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46263" y="4609400"/>
            <a:ext cx="2487922" cy="159423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검사 1회당 워커 스레드 시간 총합 5,113 → 16,652ns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4872150"/>
            <a:ext cx="11277569" cy="12660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996"/>
              </a:lnSpc>
              <a:spcBef>
                <a:spcPts val="0"/>
              </a:spcBef>
              <a:spcAft>
                <a:spcPts val="0"/>
              </a:spcAft>
            </a:pP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확정 방법 · 편차 계산을 객체가 생기지 않는 반복문으로 바꾸자, 분할 1 대비 프로세스 CPU 시간 합의 배수가 </a:t>
            </a: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3.23에서 1.04로</a:t>
            </a: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 내려왔다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525998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34924" y="5515025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해결 · 편차 계산을 증분 재계산으로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693889" y="5525998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771613" y="5515025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성과 (개선 작업 한 번당, 전 스트림 구현 · 후 증분 재계산)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725337"/>
            <a:ext cx="4114800" cy="913206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5725337"/>
            <a:ext cx="4114800" cy="594359"/>
          </a:xfrm>
          <a:prstGeom prst="rect">
            <a:avLst/>
          </a:prstGeom>
          <a:noFill/>
        </p:spPr>
        <p:txBody>
          <a:bodyPr wrap="square" lIns="109728" tIns="68580" rIns="109728" bIns="6858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한 번의 교환으로 값이 바뀌는 팀은 스무 개 중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두 개뿐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이다. 전수 검사 한 바퀴를 시작할 때 팀별 합과 제곱합을 계산해 두고, 검사마다 맞바꾼 두 팀의 값만 고쳐 편차를 구한 뒤 되돌린다.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6358102"/>
            <a:ext cx="3895344" cy="280441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합 편차 계산 1회 소요 시간 1,373 → 49ns · 분포 편차 계산 1회 소요 시간 3,175 → 82ns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3889" y="5725337"/>
            <a:ext cx="2290876" cy="540748"/>
          </a:xfrm>
          <a:prstGeom prst="rect">
            <a:avLst/>
          </a:prstGeom>
          <a:solidFill>
            <a:srgbClr val="F5F6F7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93889" y="5771057"/>
            <a:ext cx="2290876" cy="122880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개선 알고리즘 전체 실행 시간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3889" y="5908568"/>
            <a:ext cx="2290876" cy="176161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67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4,137.2ms → 59.1ms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93889" y="6095702"/>
            <a:ext cx="2290876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시작부터 끝까지 1회 · 순차 실행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68891" y="5725337"/>
            <a:ext cx="2290876" cy="540748"/>
          </a:xfrm>
          <a:prstGeom prst="rect">
            <a:avLst/>
          </a:prstGeom>
          <a:solidFill>
            <a:srgbClr val="F5F6F7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68891" y="5771057"/>
            <a:ext cx="2290876" cy="122880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병렬의 프로세스 CPU 시간 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8891" y="5908568"/>
            <a:ext cx="2290876" cy="176161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67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11,728.1ms → 71.9ms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8891" y="6095702"/>
            <a:ext cx="2290876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전후 비교용 동일 조건 · 워커 스레드 6개 · 분할 36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43892" y="5725337"/>
            <a:ext cx="2290876" cy="540748"/>
          </a:xfrm>
          <a:prstGeom prst="rect">
            <a:avLst/>
          </a:prstGeom>
          <a:solidFill>
            <a:srgbClr val="F5F6F7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43892" y="5771057"/>
            <a:ext cx="2290876" cy="122880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새로 만드는 객체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43892" y="5908568"/>
            <a:ext cx="2290876" cy="176161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67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9,522.1MB → 4.44MB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93889" y="6313634"/>
            <a:ext cx="7040879" cy="2966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16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인원 200명 기준, 참가자가 기다리던 편성 시간이 4초 규모에서 60ms 규모가 되었다. 운영 배포 설정은 이와 별도로, 개선 뒤 설정별 실측에서 가장 빨랐던 워커 스레드 12개에 분할 9를 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77569" cy="1280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08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트러블슈팅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9300"/>
            <a:ext cx="11277569" cy="2080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8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팀 편성 시작 배정 알고리즘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81101"/>
            <a:ext cx="11277569" cy="3337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14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참가자마다 팀 전체를 순회하던 시작 배정이 참가자 10배에 100배 가깝게 느려져, 합이 가장 작은 팀만 바로 꺼내는 자료구조로 바꿨다. </a:t>
            </a:r>
            <a:r>
              <a:rPr sz="900" b="1">
                <a:solidFill>
                  <a:srgbClr val="A2603E"/>
                </a:solidFill>
                <a:latin typeface="맑은 고딕"/>
                <a:ea typeface="맑은 고딕"/>
                <a:cs typeface="맑은 고딕"/>
              </a:rPr>
              <a:t>시간을 재고 비교 횟수를 따로 세어 보니 둘 다 계산으로 예측한 팀 수의 로그를 따랐고</a:t>
            </a:r>
            <a:r>
              <a:rPr sz="9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, 참가자 30만 명 기준 8.9초 규모였던 배정 시간이 46.6ms가 되었다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71550"/>
            <a:ext cx="457200" cy="30175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397466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4924" y="1386493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문제</a:t>
            </a:r>
          </a:p>
        </p:txBody>
      </p:sp>
      <p:sp>
        <p:nvSpPr>
          <p:cNvPr id="8" name="Rectangle 7"/>
          <p:cNvSpPr/>
          <p:nvPr/>
        </p:nvSpPr>
        <p:spPr>
          <a:xfrm>
            <a:off x="4053809" y="1397466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31533" y="1386493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설계 판단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96805"/>
            <a:ext cx="3474720" cy="606551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rIns="109728" bIns="68580" rtlCol="0" anchor="t">
            <a:no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시작 배정은 참가자를 실력 순으로 실력 합이 가장 작은 팀에 넣는다. 그 팀을 매번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팀 전체 순회로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찾아, 참가자가 늘면 팀 수도 같이 늘어 한 명 배정 비용이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인원수에 비례해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 커진다.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53809" y="1596805"/>
            <a:ext cx="7680960" cy="606551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8580" rIns="109728" bIns="68580" rtlCol="0" anchor="t">
            <a:noAutofit/>
          </a:bodyPr>
          <a:lstStyle/>
          <a:p>
            <a:pPr algn="l">
              <a:lnSpc>
                <a:spcPts val="1232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배정에 필요한 것은 팀 전체의 순서가 아니라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합이 가장 작은 팀 하나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다. 전체 순회 대신 그 팀을 로그 횟수 비교만으로 꺼내는 자료구조 두 가지(이진 힙, 레드블랙 트리)를 후보로 잡았다. 계산으로는 한 명 배정 비용이 팀 수의 로그로 내려오지만, 예측이므로 </a:t>
            </a: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실측으로 검증</a:t>
            </a: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하기로 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71937"/>
            <a:ext cx="11277569" cy="713130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7200" y="2271937"/>
            <a:ext cx="23774" cy="713130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62356" y="2340517"/>
            <a:ext cx="11094689" cy="132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자료구조 교체가 옳은지 검증할 기준 세 가지를 정했다. 하나라도 어긋나면 전체 순회보다 나은 선택이라고 할 수 없다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2356" y="2529290"/>
            <a:ext cx="3633002" cy="368909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2356" y="2575010"/>
            <a:ext cx="3633002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참가자를 늘렸을 때 (팀 수 고정 · 10배씩)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2356" y="2706988"/>
            <a:ext cx="3633002" cy="138176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배정 시간이 참가자 수에 비례해서만 늘어야 한다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79483" y="2529290"/>
            <a:ext cx="3633002" cy="368909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79483" y="2575010"/>
            <a:ext cx="3633002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팀 수를 늘렸을 때 (참가자 고정 · 3에서 300으로)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79483" y="2706988"/>
            <a:ext cx="3633002" cy="138176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배정 시간이 팀 수에 비례하지 않고 그 로그를 따라야 한다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96610" y="2529290"/>
            <a:ext cx="3633002" cy="368909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996610" y="2575010"/>
            <a:ext cx="3633002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시간과 별개의 확인 (팀을 고를 때의 비교 횟수 세기)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6610" y="2706988"/>
            <a:ext cx="3633002" cy="138176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l">
              <a:lnSpc>
                <a:spcPts val="1088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인원 1명당 비교 횟수도 팀 수의 로그를 따라야 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509545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4924" y="3498572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검증 · 기준 세 가지를 실측으로 확인하고, 두 자료구조 중 하나를 골랐다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08884"/>
            <a:ext cx="2689090" cy="14889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3768320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시간이 참가자 수에 선형인가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943428"/>
            <a:ext cx="2689090" cy="617728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팀 수를 고정한 채 참가자만 10배씩 늘렸다. 기존 선형 스캔과 두 후보 모두 참가자 10배에 시간도 10배 근처로 늘어, 배정이 느려지는 원인은 참가자 수 자체가 아니라 팀 수다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7784" y="4603218"/>
            <a:ext cx="2487922" cy="280441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참가자 10배당 시간 배율 선형 스캔 8.6~14.1배 · 힙 9.2~13.7배 · 트리 8.3~13.5배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14749"/>
            <a:ext cx="2689090" cy="223631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667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(측정 조건: 팀 수 3·30·300개 고정, 참가자 3천·3만·30만 명으로 증가)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6290" y="4371055"/>
            <a:ext cx="173736" cy="16459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20026" y="3708884"/>
            <a:ext cx="2689090" cy="14889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20026" y="3768320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팀 수를 늘리면 로그로만 느는가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20026" y="3943428"/>
            <a:ext cx="2689090" cy="617728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참가자를 고정한 채 팀 수만 10배씩 늘렸다. 팀 수에 비례했다면 100배가 될 때 시간도 100배가 나와야 하는데, 실측은 힙과 트리 모두 한 자릿수 배율에 그쳤다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0610" y="4603218"/>
            <a:ext cx="2487922" cy="280441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팀 수 100배당 시간 배율 힙 4.84~7.19배 · 트리 2.77~4.36배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20026" y="4914749"/>
            <a:ext cx="2689090" cy="223631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880"/>
              </a:lnSpc>
              <a:spcBef>
                <a:spcPts val="0"/>
              </a:spcBef>
              <a:spcAft>
                <a:spcPts val="0"/>
              </a:spcAft>
            </a:pPr>
            <a:r>
              <a:rPr sz="667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(측정 조건: 참가자 3천·3만·30만 명 고정, 팀 수 3·30·300개로 증가)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09116" y="4371055"/>
            <a:ext cx="173736" cy="16459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82852" y="3708884"/>
            <a:ext cx="2689090" cy="1488932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182852" y="3768320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연산 횟수도 로그를 따르는가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82852" y="3943428"/>
            <a:ext cx="2689090" cy="46329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팀을 고를 때의 비교 횟수를 따로 세었다. 참가자 수가 달라져도 인원 1명당 비교는 그대로였고, 팀 수가 100배 될 때만 시간과 같은 완만한 폭으로 늘었다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3436" y="4736921"/>
            <a:ext cx="2487922" cy="401459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인원 1명당 비교 횟수 · 팀 3개일 때 힙 2.0회, 트리 1.9~2.0회 · 팀 300개일 때 힙 15.2~15.5회, 트리 11.1~13.1회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71943" y="4371055"/>
            <a:ext cx="173736" cy="164592"/>
          </a:xfrm>
          <a:prstGeom prst="rect">
            <a:avLst/>
          </a:prstGeom>
          <a:noFill/>
        </p:spPr>
        <p:txBody>
          <a:bodyPr wrap="square" lIns="0" tIns="18288" rIns="0" bIns="0" anchor="t">
            <a:noAutofit/>
          </a:bodyPr>
          <a:lstStyle/>
          <a:p>
            <a:pPr algn="ctr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45679" y="3708884"/>
            <a:ext cx="2689090" cy="1488932"/>
          </a:xfrm>
          <a:prstGeom prst="rect">
            <a:avLst/>
          </a:prstGeom>
          <a:solidFill>
            <a:srgbClr val="FFFFFF"/>
          </a:solidFill>
          <a:ln w="9525">
            <a:solidFill>
              <a:srgbClr val="3450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45679" y="3768320"/>
            <a:ext cx="2689090" cy="145846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148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같은 로그 복잡도, 힙과 트리 중 무엇을 쓰는가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45679" y="3943428"/>
            <a:ext cx="2689090" cy="617728"/>
          </a:xfrm>
          <a:prstGeom prst="rect">
            <a:avLst/>
          </a:prstGeom>
          <a:noFill/>
        </p:spPr>
        <p:txBody>
          <a:bodyPr wrap="square" lIns="100584" tIns="0" rIns="100584" bIns="0" anchor="t">
            <a:noAutofit/>
          </a:bodyPr>
          <a:lstStyle/>
          <a:p>
            <a:pPr algn="l">
              <a:lnSpc>
                <a:spcPts val="1216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둘 중 어느 것이 빠른지는 팀 수에 따라 달랐다. 팀 수가 작으면 힙, 크면 트리가 빨랐다. 참가자를 따라 팀 수가 느는 운영 조건의 실측에서 트리가 힙보다 1.21~1.25배 빠르다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6263" y="4978958"/>
            <a:ext cx="2487922" cy="159423"/>
          </a:xfrm>
          <a:prstGeom prst="rect">
            <a:avLst/>
          </a:prstGeom>
          <a:solidFill>
            <a:srgbClr val="F5F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2179" tIns="18288" rIns="62179" bIns="20116" rtlCol="0" anchor="t">
            <a:noAutofit/>
          </a:bodyPr>
          <a:lstStyle/>
          <a:p>
            <a:pPr algn="l">
              <a:lnSpc>
                <a:spcPts val="952"/>
              </a:lnSpc>
              <a:spcBef>
                <a:spcPts val="0"/>
              </a:spcBef>
              <a:spcAft>
                <a:spcPts val="0"/>
              </a:spcAft>
            </a:pPr>
            <a:r>
              <a:rPr sz="733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참가자 30만 명 배정 시간 트리 46.6ms · 힙 58.3ms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5722294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4924" y="5711322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해결 · 팀 선택을 레드블랙 트리 기반으로 바꿨다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93889" y="5722294"/>
            <a:ext cx="23774" cy="138074"/>
          </a:xfrm>
          <a:prstGeom prst="rect">
            <a:avLst/>
          </a:prstGeom>
          <a:solidFill>
            <a:srgbClr val="345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771613" y="5711322"/>
            <a:ext cx="7315200" cy="160020"/>
          </a:xfrm>
          <a:prstGeom prst="rect">
            <a:avLst/>
          </a:prstGeom>
          <a:noFill/>
        </p:spPr>
        <p:txBody>
          <a:bodyPr wrap="square" lIns="0" tIns="10972" rIns="0" bIns="0" anchor="t">
            <a:noAutofit/>
          </a:bodyPr>
          <a:lstStyle/>
          <a:p>
            <a:pPr algn="l">
              <a:lnSpc>
                <a:spcPts val="1087"/>
              </a:lnSpc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성과 (정원 10 운영 조건)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5921634"/>
            <a:ext cx="4114800" cy="716909"/>
          </a:xfrm>
          <a:prstGeom prst="rect">
            <a:avLst/>
          </a:prstGeom>
          <a:solidFill>
            <a:srgbClr val="FFFFFF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57200" y="5921634"/>
            <a:ext cx="4114800" cy="441960"/>
          </a:xfrm>
          <a:prstGeom prst="rect">
            <a:avLst/>
          </a:prstGeom>
          <a:noFill/>
        </p:spPr>
        <p:txBody>
          <a:bodyPr wrap="square" lIns="109728" tIns="68580" rIns="109728" bIns="68580" anchor="t">
            <a:no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333333"/>
                </a:solidFill>
                <a:latin typeface="맑은 고딕"/>
                <a:ea typeface="맑은 고딕"/>
                <a:cs typeface="맑은 고딕"/>
              </a:rPr>
              <a:t>참가자를 따라 팀 수가 커지는 운영 조건에서 트리가 힙보다 일관되게 빨랐고 규모가 커질수록 격차가 벌어져, 레드블랙 트리를 채택했다.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93889" y="5921634"/>
            <a:ext cx="2290876" cy="716909"/>
          </a:xfrm>
          <a:prstGeom prst="rect">
            <a:avLst/>
          </a:prstGeom>
          <a:solidFill>
            <a:srgbClr val="F5F6F7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93889" y="5967354"/>
            <a:ext cx="2290876" cy="122880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배정 한 번에 걸리는 시간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93889" y="6104864"/>
            <a:ext cx="2290876" cy="176161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67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선형 스캔 8.9초 → 트리 46.6ms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93889" y="6291999"/>
            <a:ext cx="2290876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참가자 30만 명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68891" y="5921634"/>
            <a:ext cx="2290876" cy="716909"/>
          </a:xfrm>
          <a:prstGeom prst="rect">
            <a:avLst/>
          </a:prstGeom>
          <a:solidFill>
            <a:srgbClr val="F5F6F7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7068891" y="5967354"/>
            <a:ext cx="2290876" cy="122880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참가자 10배당 시간 증가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068891" y="6104864"/>
            <a:ext cx="2290876" cy="352323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67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선형 스캔 98.1배·90.1배 → 트리 11.1배·11.3배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68891" y="6468160"/>
            <a:ext cx="2290876" cy="117348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24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3천에서 3만, 3만에서 30만 구간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43892" y="5921634"/>
            <a:ext cx="2290876" cy="716909"/>
          </a:xfrm>
          <a:prstGeom prst="rect">
            <a:avLst/>
          </a:prstGeom>
          <a:solidFill>
            <a:srgbClr val="F5F6F7"/>
          </a:solidFill>
          <a:ln w="6350">
            <a:solidFill>
              <a:srgbClr val="D8DC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443892" y="5967354"/>
            <a:ext cx="2290876" cy="122880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967"/>
              </a:lnSpc>
              <a:spcBef>
                <a:spcPts val="0"/>
              </a:spcBef>
              <a:spcAft>
                <a:spcPts val="0"/>
              </a:spcAft>
            </a:pPr>
            <a:r>
              <a:rPr sz="733" b="0">
                <a:solidFill>
                  <a:srgbClr val="75808A"/>
                </a:solidFill>
                <a:latin typeface="맑은 고딕"/>
                <a:ea typeface="맑은 고딕"/>
                <a:cs typeface="맑은 고딕"/>
              </a:rPr>
              <a:t>참가자 3만 명 기준 배정 시간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43892" y="6104864"/>
            <a:ext cx="2290876" cy="176161"/>
          </a:xfrm>
          <a:prstGeom prst="rect">
            <a:avLst/>
          </a:prstGeom>
          <a:noFill/>
        </p:spPr>
        <p:txBody>
          <a:bodyPr wrap="square" tIns="0" bIns="0" anchor="t">
            <a:noAutofit/>
          </a:bodyPr>
          <a:lstStyle/>
          <a:p>
            <a:pPr algn="ctr">
              <a:lnSpc>
                <a:spcPts val="1387"/>
              </a:lnSpc>
              <a:spcBef>
                <a:spcPts val="0"/>
              </a:spcBef>
              <a:spcAft>
                <a:spcPts val="0"/>
              </a:spcAft>
            </a:pPr>
            <a:r>
              <a:rPr sz="1067" b="1">
                <a:solidFill>
                  <a:srgbClr val="34506B"/>
                </a:solidFill>
                <a:latin typeface="맑은 고딕"/>
                <a:ea typeface="맑은 고딕"/>
                <a:cs typeface="맑은 고딕"/>
              </a:rPr>
              <a:t>선형 스캔 98.7ms → 트리 4.1ms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2530</Words>
  <Application>Microsoft Office PowerPoint</Application>
  <PresentationFormat>와이드스크린</PresentationFormat>
  <Paragraphs>201</Paragraphs>
  <Slides>5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 대항 등수형 챌린지 포트폴리오</dc:title>
  <dc:subject>PptxGenJS Presentation</dc:subject>
  <dc:creator>정범진</dc:creator>
  <cp:lastModifiedBy>내컴퓨터</cp:lastModifiedBy>
  <cp:revision>11</cp:revision>
  <dcterms:created xsi:type="dcterms:W3CDTF">2026-08-21T08:49:18Z</dcterms:created>
  <dcterms:modified xsi:type="dcterms:W3CDTF">2026-08-24T12:13:15Z</dcterms:modified>
</cp:coreProperties>
</file>